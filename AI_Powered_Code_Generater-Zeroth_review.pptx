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97" r:id="rId1"/>
  </p:sldMasterIdLst>
  <p:notesMasterIdLst>
    <p:notesMasterId r:id="rId13"/>
  </p:notesMasterIdLst>
  <p:sldIdLst>
    <p:sldId id="265" r:id="rId2"/>
    <p:sldId id="257" r:id="rId3"/>
    <p:sldId id="266" r:id="rId4"/>
    <p:sldId id="261" r:id="rId5"/>
    <p:sldId id="259" r:id="rId6"/>
    <p:sldId id="260" r:id="rId7"/>
    <p:sldId id="267" r:id="rId8"/>
    <p:sldId id="269" r:id="rId9"/>
    <p:sldId id="262" r:id="rId10"/>
    <p:sldId id="268" r:id="rId11"/>
    <p:sldId id="263" r:id="rId12"/>
  </p:sldIdLst>
  <p:sldSz cx="9144000" cy="6858000" type="screen4x3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405CC-EE72-4783-B9B8-4EECBB33686D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37D85-B989-4E46-ADE3-4E36A03D16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937D85-B989-4E46-ADE3-4E36A03D16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74df6e1f328152e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g74df6e1f328152e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g74df6e1f328152e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A7FD-472C-47B4-AA17-7C127014295F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25B1-EBF3-41E2-8DE0-EE3C392629B6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820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60370-1888-4083-8214-657324661AE4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34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A603-13C4-4415-8142-2F8C9E8CAC74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14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835E5-2FA7-494D-A2A3-86EAD09B3901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51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CCCAF-EDCC-4C31-8F5D-ED473F22C38B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16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0969-2B93-4F70-8A1D-5E2D1B85B76A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2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BFEE9-79B8-411D-855D-51BD3B2E2233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780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323A-DE1E-459C-9AE1-97F5CF67B571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50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3BDCA-ADA6-4C1F-82AB-074242BF5041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0487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3BDCA-ADA6-4C1F-82AB-074242BF5041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542336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3BDCA-ADA6-4C1F-82AB-074242BF5041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26031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3BDCA-ADA6-4C1F-82AB-074242BF5041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0609234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3BDCA-ADA6-4C1F-82AB-074242BF5041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02752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71B5-E26D-413D-B4B2-3DA4C843F9E8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11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D46E-4467-496F-93AF-E3E384189B7E}" type="datetime1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1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3BDCA-ADA6-4C1F-82AB-074242BF5041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1904AS651 - Mini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5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77706469_AI-Powered_Programming_Using_ChatGPT_for_Code_Generation_Suppor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wnloads/base%20paper-AI%20powered%20code%20generater.pdf" TargetMode="External"/><Relationship Id="rId4" Type="http://schemas.openxmlformats.org/officeDocument/2006/relationships/hyperlink" Target="https://repo.ijiert.org/index.php/ijiert/article/download/1334/3299/691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85256" y="704354"/>
            <a:ext cx="7715992" cy="209822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Project Review</a:t>
            </a:r>
            <a:br>
              <a:rPr lang="en-IN" b="1" dirty="0"/>
            </a:br>
            <a:br>
              <a:rPr lang="en-IN" b="1" dirty="0"/>
            </a:b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AI POWERED CODE GENERATER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6848" y="3020787"/>
            <a:ext cx="7266215" cy="2735036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800" b="1" u="sng" dirty="0">
                <a:solidFill>
                  <a:schemeClr val="tx1"/>
                </a:solidFill>
              </a:rPr>
              <a:t>Team Members: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	</a:t>
            </a:r>
            <a:r>
              <a:rPr lang="en-US" sz="1800" b="1" dirty="0" err="1">
                <a:solidFill>
                  <a:schemeClr val="tx1"/>
                </a:solidFill>
              </a:rPr>
              <a:t>Agatheeswaran</a:t>
            </a:r>
            <a:r>
              <a:rPr lang="en-US" sz="1800" b="1" dirty="0">
                <a:solidFill>
                  <a:schemeClr val="tx1"/>
                </a:solidFill>
              </a:rPr>
              <a:t> A (8208E22ASR008),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	Haseeb Mohammed H (8208E22ASR022),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       </a:t>
            </a:r>
            <a:r>
              <a:rPr lang="en-US" sz="1800" b="1" dirty="0" err="1">
                <a:solidFill>
                  <a:schemeClr val="tx1"/>
                </a:solidFill>
              </a:rPr>
              <a:t>Praveenkumar</a:t>
            </a:r>
            <a:r>
              <a:rPr lang="en-US" sz="1800" b="1" dirty="0">
                <a:solidFill>
                  <a:schemeClr val="tx1"/>
                </a:solidFill>
              </a:rPr>
              <a:t> S (8208E22ASR040).</a:t>
            </a:r>
          </a:p>
          <a:p>
            <a:pPr algn="l"/>
            <a:r>
              <a:rPr lang="en-US" sz="1800" b="1" u="sng" dirty="0">
                <a:solidFill>
                  <a:schemeClr val="tx1"/>
                </a:solidFill>
              </a:rPr>
              <a:t> Project </a:t>
            </a:r>
            <a:r>
              <a:rPr lang="en-US" sz="1800" b="1" u="sng" dirty="0" err="1">
                <a:solidFill>
                  <a:schemeClr val="tx1"/>
                </a:solidFill>
              </a:rPr>
              <a:t>coordinater</a:t>
            </a:r>
            <a:r>
              <a:rPr lang="en-US" sz="1800" b="1" u="sng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	  </a:t>
            </a:r>
            <a:r>
              <a:rPr lang="en-US" sz="1800" b="1" dirty="0" err="1">
                <a:solidFill>
                  <a:schemeClr val="tx1"/>
                </a:solidFill>
              </a:rPr>
              <a:t>Mr.R.Gobinath</a:t>
            </a:r>
            <a:r>
              <a:rPr lang="en-US" sz="1800" b="1" dirty="0">
                <a:solidFill>
                  <a:schemeClr val="tx1"/>
                </a:solidFill>
              </a:rPr>
              <a:t>(</a:t>
            </a:r>
            <a:r>
              <a:rPr lang="en-US" sz="1800" b="1" dirty="0" err="1">
                <a:solidFill>
                  <a:schemeClr val="tx1"/>
                </a:solidFill>
              </a:rPr>
              <a:t>ME,Phd</a:t>
            </a:r>
            <a:r>
              <a:rPr lang="en-US" sz="1800" b="1" dirty="0">
                <a:solidFill>
                  <a:schemeClr val="tx1"/>
                </a:solidFill>
              </a:rPr>
              <a:t>),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	  </a:t>
            </a:r>
            <a:r>
              <a:rPr lang="en-US" sz="1800" b="1" dirty="0" err="1">
                <a:solidFill>
                  <a:schemeClr val="tx1"/>
                </a:solidFill>
              </a:rPr>
              <a:t>Assistan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Professer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  <a:p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Google Shape;23;p1">
            <a:extLst>
              <a:ext uri="{FF2B5EF4-FFF2-40B4-BE49-F238E27FC236}">
                <a16:creationId xmlns:a16="http://schemas.microsoft.com/office/drawing/2014/main" id="{C2B25367-2FC1-DBFE-ED23-B0CED333B343}"/>
              </a:ext>
            </a:extLst>
          </p:cNvPr>
          <p:cNvSpPr txBox="1">
            <a:spLocks/>
          </p:cNvSpPr>
          <p:nvPr/>
        </p:nvSpPr>
        <p:spPr>
          <a:xfrm>
            <a:off x="3222171" y="635354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 lvl="0">
              <a:defRPr lang="en-US"/>
            </a:defPPr>
            <a:lvl1pPr marL="0" lv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1904AS651 -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>
            <a:spLocks noGrp="1"/>
          </p:cNvSpPr>
          <p:nvPr>
            <p:ph type="ctrTitle"/>
          </p:nvPr>
        </p:nvSpPr>
        <p:spPr>
          <a:xfrm>
            <a:off x="838200" y="30480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u="sng" dirty="0">
                <a:solidFill>
                  <a:schemeClr val="accent2">
                    <a:lumMod val="50000"/>
                  </a:schemeClr>
                </a:solidFill>
              </a:rPr>
              <a:t>Motivation/Introduction </a:t>
            </a:r>
            <a:endParaRPr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1" name="Google Shape;21;p1"/>
          <p:cNvSpPr txBox="1">
            <a:spLocks noGrp="1"/>
          </p:cNvSpPr>
          <p:nvPr>
            <p:ph type="subTitle" idx="1"/>
          </p:nvPr>
        </p:nvSpPr>
        <p:spPr>
          <a:xfrm>
            <a:off x="694944" y="1828800"/>
            <a:ext cx="8217408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In today’s fast-paced development world, writing code from scratch for common tasks can be time-consuming and repetitive. We saw a strong opportunity to build an intelligent system that can understand natural language and generate working code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i-sans-serif"/>
              </a:rPr>
              <a:t>Many students and developers spend a lot of time looking for code snippets online.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i-sans-serif"/>
              </a:rPr>
              <a:t>Beginners often struggle to convert their logic into proper syntax.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i-sans-serif"/>
              </a:rPr>
              <a:t>Developers waste time writing boilerplate code repeatedly.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 pitchFamily="34" charset="0"/>
              <a:buChar char="•"/>
            </a:pP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23" name="Google Shape;23;p1"/>
          <p:cNvSpPr txBox="1">
            <a:spLocks noGrp="1"/>
          </p:cNvSpPr>
          <p:nvPr>
            <p:ph type="ftr" sz="quarter" idx="11"/>
          </p:nvPr>
        </p:nvSpPr>
        <p:spPr>
          <a:xfrm>
            <a:off x="3581400" y="6370612"/>
            <a:ext cx="19153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1904AS651 - Mini project</a:t>
            </a:r>
          </a:p>
        </p:txBody>
      </p:sp>
      <p:sp>
        <p:nvSpPr>
          <p:cNvPr id="22" name="Google Shape;22;p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-206830"/>
            <a:ext cx="7772400" cy="1470025"/>
          </a:xfrm>
        </p:spPr>
        <p:txBody>
          <a:bodyPr/>
          <a:lstStyle/>
          <a:p>
            <a:r>
              <a:rPr lang="en-IN" u="sng" dirty="0">
                <a:solidFill>
                  <a:schemeClr val="accent2">
                    <a:lumMod val="50000"/>
                  </a:schemeClr>
                </a:solidFill>
              </a:rPr>
              <a:t>Problem Identified</a:t>
            </a:r>
            <a:endParaRPr lang="en-US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099" y="1600199"/>
            <a:ext cx="8082644" cy="478427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u="sng" dirty="0">
                <a:solidFill>
                  <a:schemeClr val="tx1"/>
                </a:solidFill>
              </a:rPr>
              <a:t>Time-Consuming Code Writing</a:t>
            </a:r>
            <a:r>
              <a:rPr lang="en-US" u="sng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Writing code from scratch can take a lot of time, 	especially for beginners or in large projects.</a:t>
            </a:r>
          </a:p>
          <a:p>
            <a:pPr algn="l"/>
            <a:r>
              <a:rPr lang="en-US" b="1" u="sng" dirty="0">
                <a:solidFill>
                  <a:schemeClr val="tx1"/>
                </a:solidFill>
              </a:rPr>
              <a:t>Lack of Expertise</a:t>
            </a:r>
            <a:r>
              <a:rPr lang="en-US" u="sng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Non-technical users or those new to programming may 	struggle to write or debug code.</a:t>
            </a:r>
          </a:p>
          <a:p>
            <a:pPr algn="l"/>
            <a:r>
              <a:rPr lang="en-US" b="1" u="sng" dirty="0">
                <a:solidFill>
                  <a:schemeClr val="tx1"/>
                </a:solidFill>
              </a:rPr>
              <a:t>Syntax and Logical Errors</a:t>
            </a:r>
            <a:r>
              <a:rPr lang="en-US" u="sng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Developers often face syntax errors or logical 	mistakes 	that can be time-consuming to identify and fix.</a:t>
            </a:r>
          </a:p>
          <a:p>
            <a:pPr algn="l"/>
            <a:r>
              <a:rPr lang="en-US" b="1" u="sng" dirty="0">
                <a:solidFill>
                  <a:schemeClr val="tx1"/>
                </a:solidFill>
              </a:rPr>
              <a:t>Inefficient Coding Practices</a:t>
            </a:r>
            <a:r>
              <a:rPr lang="en-US" u="sng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Manual coding sometimes leads to redundant or 	inefficient code due to human error.</a:t>
            </a:r>
          </a:p>
          <a:p>
            <a:pPr algn="l"/>
            <a:r>
              <a:rPr lang="en-US" b="1" u="sng" dirty="0">
                <a:solidFill>
                  <a:schemeClr val="tx1"/>
                </a:solidFill>
              </a:rPr>
              <a:t>Limited Productivity</a:t>
            </a:r>
            <a:r>
              <a:rPr lang="en-US" u="sng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Developers may spend excessive time on repetitive 	tasks, reducing innovation and productivity.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AB17774-3507-667F-6FD9-D165BF07F5F2}"/>
              </a:ext>
            </a:extLst>
          </p:cNvPr>
          <p:cNvSpPr txBox="1">
            <a:spLocks/>
          </p:cNvSpPr>
          <p:nvPr/>
        </p:nvSpPr>
        <p:spPr>
          <a:xfrm>
            <a:off x="3276600" y="635634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1904AS651 - Mini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B31B-3144-0D7F-B20C-9514CBCF0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8264"/>
            <a:ext cx="6347713" cy="1320800"/>
          </a:xfrm>
        </p:spPr>
        <p:txBody>
          <a:bodyPr/>
          <a:lstStyle/>
          <a:p>
            <a:r>
              <a:rPr lang="en-IN" u="sng" dirty="0">
                <a:solidFill>
                  <a:schemeClr val="accent2">
                    <a:lumMod val="50000"/>
                  </a:schemeClr>
                </a:solidFill>
              </a:rPr>
              <a:t>Key Business Objectives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3EC9491-17BE-600A-52C3-CF76079AA2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05341"/>
            <a:ext cx="857097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Simplify Code Generation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Enable users to generate accurate and efficient code using simple natura 	language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Developer Productivity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Reduce the time spent on writing repetitive or boilerplate code, allowing 		developers to focus on logic and design.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Multiple Programming Languages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Provide cross-language support (e.g., Python, Java, C++, JavaScript, 	etc.) for broader usability.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Accessibility to Coding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Help non-programmers and beginners write code with ease by eliminating 	the barrier of syntax knowledge.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Scalable &amp; Trainable AI Model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Design the system to continuously learn and improve from user queries 		and feedback.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8B59E-0C74-A079-1D25-E08A22AC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1904AS651 - Mini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F0BF3-A1C8-8157-6683-1DE233E5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97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815086" y="-125413"/>
            <a:ext cx="7772400" cy="1470025"/>
          </a:xfrm>
        </p:spPr>
        <p:txBody>
          <a:bodyPr/>
          <a:lstStyle/>
          <a:p>
            <a:r>
              <a:rPr lang="en-IN" u="sng" dirty="0">
                <a:solidFill>
                  <a:schemeClr val="accent2">
                    <a:lumMod val="50000"/>
                  </a:schemeClr>
                </a:solidFill>
              </a:rPr>
              <a:t>Base Paper Details</a:t>
            </a:r>
            <a:endParaRPr lang="en-US" u="sng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1828800"/>
            <a:ext cx="6400800" cy="4419600"/>
          </a:xfrm>
        </p:spPr>
        <p:txBody>
          <a:bodyPr>
            <a:normAutofit/>
          </a:bodyPr>
          <a:lstStyle/>
          <a:p>
            <a:pPr algn="l"/>
            <a:r>
              <a:rPr lang="en-US" sz="2400" u="sng" dirty="0">
                <a:solidFill>
                  <a:schemeClr val="tx1"/>
                </a:solidFill>
              </a:rPr>
              <a:t>TITLE</a:t>
            </a:r>
            <a:r>
              <a:rPr lang="en-US" sz="2400" dirty="0">
                <a:solidFill>
                  <a:schemeClr val="tx1"/>
                </a:solidFill>
              </a:rPr>
              <a:t>:AI-Assisted Code Generation</a:t>
            </a:r>
          </a:p>
          <a:p>
            <a:pPr algn="l"/>
            <a:r>
              <a:rPr lang="en-US" sz="2400" u="sng" dirty="0">
                <a:solidFill>
                  <a:schemeClr val="tx1"/>
                </a:solidFill>
              </a:rPr>
              <a:t>PUBLISHER</a:t>
            </a:r>
            <a:r>
              <a:rPr lang="en-US" sz="2400" dirty="0">
                <a:solidFill>
                  <a:schemeClr val="tx1"/>
                </a:solidFill>
              </a:rPr>
              <a:t>:IEEE</a:t>
            </a:r>
          </a:p>
          <a:p>
            <a:pPr algn="l"/>
            <a:r>
              <a:rPr lang="en-US" sz="2400" u="sng" dirty="0">
                <a:solidFill>
                  <a:schemeClr val="tx1"/>
                </a:solidFill>
              </a:rPr>
              <a:t>AUTHORS</a:t>
            </a:r>
            <a:r>
              <a:rPr lang="en-US" sz="2400" dirty="0">
                <a:solidFill>
                  <a:schemeClr val="tx1"/>
                </a:solidFill>
              </a:rPr>
              <a:t>:1.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Simon </a:t>
            </a:r>
            <a:r>
              <a:rPr lang="en-US" sz="2400" dirty="0" err="1">
                <a:solidFill>
                  <a:schemeClr val="tx1"/>
                </a:solidFill>
              </a:rPr>
              <a:t>Torkaa</a:t>
            </a:r>
            <a:r>
              <a:rPr lang="en-US" sz="2400" dirty="0">
                <a:solidFill>
                  <a:schemeClr val="tx1"/>
                </a:solidFill>
              </a:rPr>
              <a:t>,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		2. </a:t>
            </a:r>
            <a:r>
              <a:rPr lang="en-US" sz="2400" dirty="0" err="1">
                <a:solidFill>
                  <a:schemeClr val="tx1"/>
                </a:solidFill>
              </a:rPr>
              <a:t>Sahin</a:t>
            </a:r>
            <a:r>
              <a:rPr lang="en-US" sz="2400" dirty="0">
                <a:solidFill>
                  <a:schemeClr val="tx1"/>
                </a:solidFill>
              </a:rPr>
              <a:t> Albayrak.</a:t>
            </a:r>
          </a:p>
          <a:p>
            <a:pPr algn="l"/>
            <a:r>
              <a:rPr lang="en-US" sz="2400" u="sng" dirty="0">
                <a:solidFill>
                  <a:schemeClr val="tx1"/>
                </a:solidFill>
              </a:rPr>
              <a:t>PUBLISHED</a:t>
            </a:r>
            <a:r>
              <a:rPr lang="en-US" sz="2400" dirty="0">
                <a:solidFill>
                  <a:schemeClr val="tx1"/>
                </a:solidFill>
              </a:rPr>
              <a:t>:14 DEC 2024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26771" y="6041362"/>
            <a:ext cx="4622973" cy="365125"/>
          </a:xfrm>
        </p:spPr>
        <p:txBody>
          <a:bodyPr/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1904AS651 - Mini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1ED02B-AACE-6E88-2E54-6341257B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973" y="155863"/>
            <a:ext cx="6347714" cy="1320800"/>
          </a:xfrm>
        </p:spPr>
        <p:txBody>
          <a:bodyPr/>
          <a:lstStyle/>
          <a:p>
            <a:pPr algn="ctr"/>
            <a:r>
              <a:rPr lang="en-US" u="sng" dirty="0">
                <a:solidFill>
                  <a:srgbClr val="002060"/>
                </a:solidFill>
              </a:rPr>
              <a:t>LITRATURE REVIEW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706B01-A0A6-7E28-4DFE-A2DC87ECF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0617" y="6223925"/>
            <a:ext cx="4622973" cy="365125"/>
          </a:xfrm>
        </p:spPr>
        <p:txBody>
          <a:bodyPr/>
          <a:lstStyle/>
          <a:p>
            <a:r>
              <a:rPr lang="en-US" dirty="0"/>
              <a:t>1904AS651 - Mini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8A41FF35-E924-54B1-D763-2ADDCA1BD7B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97613671"/>
              </p:ext>
            </p:extLst>
          </p:nvPr>
        </p:nvGraphicFramePr>
        <p:xfrm>
          <a:off x="0" y="1082040"/>
          <a:ext cx="9144000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645">
                  <a:extLst>
                    <a:ext uri="{9D8B030D-6E8A-4147-A177-3AD203B41FA5}">
                      <a16:colId xmlns:a16="http://schemas.microsoft.com/office/drawing/2014/main" val="947329627"/>
                    </a:ext>
                  </a:extLst>
                </a:gridCol>
                <a:gridCol w="1850275">
                  <a:extLst>
                    <a:ext uri="{9D8B030D-6E8A-4147-A177-3AD203B41FA5}">
                      <a16:colId xmlns:a16="http://schemas.microsoft.com/office/drawing/2014/main" val="3025413413"/>
                    </a:ext>
                  </a:extLst>
                </a:gridCol>
                <a:gridCol w="3706368">
                  <a:extLst>
                    <a:ext uri="{9D8B030D-6E8A-4147-A177-3AD203B41FA5}">
                      <a16:colId xmlns:a16="http://schemas.microsoft.com/office/drawing/2014/main" val="408523068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309280183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16049805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TiTlE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PUBLISHED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143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50" dirty="0"/>
                        <a:t>AI-ASSISTED CODE GENERATION AND OPTIMIZATIN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Sr.Swamy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Prasadarao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Velaga,Program</a:t>
                      </a:r>
                      <a:r>
                        <a:rPr lang="en-US" dirty="0"/>
                        <a:t> Automation Architect,</a:t>
                      </a:r>
                    </a:p>
                    <a:p>
                      <a:r>
                        <a:rPr lang="en-US" dirty="0"/>
                        <a:t>(IT DEP).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Collaborations between human experts and AI models are crucial and can ultimately reduce the user and expert effort, combine the strength of both sides, ensure the expert control.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9, Sep. -2023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MACHINE LEARNING</a:t>
                      </a:r>
                    </a:p>
                    <a:p>
                      <a:r>
                        <a:rPr lang="en-US" sz="1600" dirty="0"/>
                        <a:t>(DETECTION AND CORRECTION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ERRORS)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088586"/>
                  </a:ext>
                </a:extLst>
              </a:tr>
              <a:tr h="168263">
                <a:tc>
                  <a:txBody>
                    <a:bodyPr/>
                    <a:lstStyle/>
                    <a:p>
                      <a:r>
                        <a:rPr lang="en-US" sz="1550" dirty="0"/>
                        <a:t>OPTIMIZING AI-ASSISTED CODE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Simon </a:t>
                      </a:r>
                      <a:r>
                        <a:rPr lang="en-US" dirty="0" err="1"/>
                        <a:t>Torkaa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SahinAlbayraka</a:t>
                      </a:r>
                      <a:r>
                        <a:rPr lang="en-US" dirty="0"/>
                        <a:t>,</a:t>
                      </a:r>
                    </a:p>
                    <a:p>
                      <a:r>
                        <a:rPr lang="en-US" dirty="0" err="1"/>
                        <a:t>Technische</a:t>
                      </a:r>
                      <a:r>
                        <a:rPr lang="en-US" dirty="0"/>
                        <a:t> Universität Berlin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With the ongoing development of AI code generators to create both traditional code and AI code, there are significant opportunities and risks for software and AI development.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 Dec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MACHINE LEARNING,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NATURAL LANGUAGE PROCESSIN,</a:t>
                      </a:r>
                    </a:p>
                    <a:p>
                      <a:r>
                        <a:rPr lang="en-US" sz="1600" dirty="0"/>
                        <a:t>LARGE LANGUAGE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017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188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FF2B5EF4-FFF2-40B4-BE49-F238E27FC236}">
                <a16:creationId xmlns:a16="http://schemas.microsoft.com/office/drawing/2014/main" id="{C065912B-E303-6B01-CA1D-0D7DDDA94F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25" y="249382"/>
            <a:ext cx="8274601" cy="6307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DD7754-B689-197A-924D-D6BBD0C68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761423"/>
          </a:xfrm>
        </p:spPr>
        <p:txBody>
          <a:bodyPr/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1904AS651 - Mini project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92626-DAE3-5E6D-B4C1-BE1618F1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05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E25E47F3-3B98-1068-B41B-C271C856F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397" y="515680"/>
            <a:ext cx="4014952" cy="602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Title 65">
            <a:extLst>
              <a:ext uri="{FF2B5EF4-FFF2-40B4-BE49-F238E27FC236}">
                <a16:creationId xmlns:a16="http://schemas.microsoft.com/office/drawing/2014/main" id="{CB666174-04E4-DD5F-6B5B-23DC0FAA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960" y="44860"/>
            <a:ext cx="6930737" cy="882764"/>
          </a:xfrm>
        </p:spPr>
        <p:txBody>
          <a:bodyPr>
            <a:normAutofit/>
          </a:bodyPr>
          <a:lstStyle/>
          <a:p>
            <a:r>
              <a:rPr lang="en-US" sz="2800" u="sng" dirty="0">
                <a:solidFill>
                  <a:schemeClr val="accent2">
                    <a:lumMod val="50000"/>
                  </a:schemeClr>
                </a:solidFill>
              </a:rPr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3704A-2DBE-A2E3-BC8D-C18CCAB9D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7824"/>
            <a:ext cx="8229600" cy="5248339"/>
          </a:xfrm>
        </p:spPr>
        <p:txBody>
          <a:bodyPr/>
          <a:lstStyle/>
          <a:p>
            <a:endParaRPr lang="en-US" b="1" u="sng" dirty="0"/>
          </a:p>
          <a:p>
            <a:endParaRPr lang="en-US" b="1" u="sng" dirty="0"/>
          </a:p>
          <a:p>
            <a:endParaRPr lang="en-US" b="1" u="sng" dirty="0"/>
          </a:p>
          <a:p>
            <a:endParaRPr lang="en-US" b="1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D7E0C-8AF2-6B4E-6927-B690609F8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96936" y="6492875"/>
            <a:ext cx="2895600" cy="365125"/>
          </a:xfrm>
        </p:spPr>
        <p:txBody>
          <a:bodyPr/>
          <a:lstStyle/>
          <a:p>
            <a:r>
              <a:rPr lang="en-US" dirty="0"/>
              <a:t>1904AS651 - Mini project</a:t>
            </a:r>
          </a:p>
          <a:p>
            <a:endParaRPr lang="en-US" dirty="0"/>
          </a:p>
        </p:txBody>
      </p:sp>
      <p:pic>
        <p:nvPicPr>
          <p:cNvPr id="221" name="Picture 220">
            <a:extLst>
              <a:ext uri="{FF2B5EF4-FFF2-40B4-BE49-F238E27FC236}">
                <a16:creationId xmlns:a16="http://schemas.microsoft.com/office/drawing/2014/main" id="{4FC8312B-FFF4-E7CF-24F2-81ED98815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63" y="581891"/>
            <a:ext cx="3791466" cy="568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42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B31B-3144-0D7F-B20C-9514CBCF0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07190"/>
            <a:ext cx="6347713" cy="1320800"/>
          </a:xfrm>
        </p:spPr>
        <p:txBody>
          <a:bodyPr/>
          <a:lstStyle/>
          <a:p>
            <a:r>
              <a:rPr lang="en-IN" u="sng" dirty="0">
                <a:solidFill>
                  <a:schemeClr val="accent2">
                    <a:lumMod val="50000"/>
                  </a:schemeClr>
                </a:solidFill>
              </a:rPr>
              <a:t>Methodology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E2E4CF8-0A34-0893-F666-1729808329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690" y="1220993"/>
            <a:ext cx="835761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</a:t>
            </a:r>
            <a:r>
              <a:rPr kumimoji="0" lang="en-US" altLang="en-US" sz="2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created a dataset of code samples and 	paired them with corresponding natural language prompts 	across multiple languages (Python, Java, C++,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Choice</a:t>
            </a:r>
            <a:r>
              <a:rPr kumimoji="0" lang="en-US" altLang="en-US" sz="2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researching multiple models, we selected 	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CodeT5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its pre-trained capabilities on code 	understanding and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</a:t>
            </a:r>
            <a:r>
              <a:rPr kumimoji="0" lang="en-US" altLang="en-US" sz="2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Tokenization and cleaning of both natural 	language and code snippets.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&amp; Fine-tuning</a:t>
            </a:r>
            <a:r>
              <a:rPr kumimoji="0" lang="en-US" altLang="en-US" sz="2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Fine-tuned the CodeT5 model using 	our dataset to improve accuracy on custom prompts.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</a:t>
            </a:r>
            <a:r>
              <a:rPr kumimoji="0" lang="en-US" altLang="en-US" sz="2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BLEU scores and manual validation to assess 	code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</a:t>
            </a:r>
            <a:r>
              <a:rPr kumimoji="0" lang="en-US" altLang="en-US" sz="2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the trained model with a Flask-based 	web interface for user interaction.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8B59E-0C74-A079-1D25-E08A22AC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1904AS651 - Mini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F0BF3-A1C8-8157-6683-1DE233E5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73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072" y="-475970"/>
            <a:ext cx="7772400" cy="1470025"/>
          </a:xfrm>
        </p:spPr>
        <p:txBody>
          <a:bodyPr>
            <a:normAutofit/>
          </a:bodyPr>
          <a:lstStyle/>
          <a:p>
            <a:r>
              <a:rPr lang="en-IN" sz="4000" u="sng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&amp;Software Requirements</a:t>
            </a:r>
          </a:p>
        </p:txBody>
      </p:sp>
      <p:sp>
        <p:nvSpPr>
          <p:cNvPr id="37" name="Subtitle 36">
            <a:extLst>
              <a:ext uri="{FF2B5EF4-FFF2-40B4-BE49-F238E27FC236}">
                <a16:creationId xmlns:a16="http://schemas.microsoft.com/office/drawing/2014/main" id="{7D50AFE9-D1FD-023E-1FB7-5335CD922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1182624"/>
            <a:ext cx="7991856" cy="5035295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1. </a:t>
            </a:r>
            <a:r>
              <a:rPr lang="en-US" b="1" u="sng" dirty="0">
                <a:solidFill>
                  <a:schemeClr val="tx1"/>
                </a:solidFill>
              </a:rPr>
              <a:t>Operating System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Windows 10/11</a:t>
            </a:r>
            <a:r>
              <a:rPr lang="en-US" dirty="0">
                <a:solidFill>
                  <a:schemeClr val="tx1"/>
                </a:solidFill>
              </a:rPr>
              <a:t> (for local development)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Linux (Ubuntu 20.04/22.04, CentOS, Debian)</a:t>
            </a:r>
            <a:r>
              <a:rPr lang="en-US" dirty="0">
                <a:solidFill>
                  <a:schemeClr val="tx1"/>
                </a:solidFill>
              </a:rPr>
              <a:t> (for server deployment)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macOS (M1/M2)</a:t>
            </a:r>
            <a:r>
              <a:rPr lang="en-US" dirty="0">
                <a:solidFill>
                  <a:schemeClr val="tx1"/>
                </a:solidFill>
              </a:rPr>
              <a:t> (optional)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2. </a:t>
            </a:r>
            <a:r>
              <a:rPr lang="en-US" b="1" u="sng" dirty="0">
                <a:solidFill>
                  <a:schemeClr val="tx1"/>
                </a:solidFill>
              </a:rPr>
              <a:t>Programming Languages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Python 3.8+</a:t>
            </a:r>
            <a:r>
              <a:rPr lang="en-US" dirty="0">
                <a:solidFill>
                  <a:schemeClr val="tx1"/>
                </a:solidFill>
              </a:rPr>
              <a:t> (for AI model, backend development)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JavaScript (ES6+)</a:t>
            </a:r>
            <a:r>
              <a:rPr lang="en-US" dirty="0">
                <a:solidFill>
                  <a:schemeClr val="tx1"/>
                </a:solidFill>
              </a:rPr>
              <a:t> (for frontend development)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3. </a:t>
            </a:r>
            <a:r>
              <a:rPr lang="en-US" b="1" u="sng" dirty="0">
                <a:solidFill>
                  <a:schemeClr val="tx1"/>
                </a:solidFill>
              </a:rPr>
              <a:t>AI/ML Frameworks</a:t>
            </a:r>
          </a:p>
          <a:p>
            <a:pPr lvl="1" algn="l"/>
            <a:r>
              <a:rPr lang="en-US" b="1" dirty="0" err="1">
                <a:solidFill>
                  <a:schemeClr val="tx1"/>
                </a:solidFill>
              </a:rPr>
              <a:t>PyTorch</a:t>
            </a:r>
            <a:r>
              <a:rPr lang="en-US" dirty="0">
                <a:solidFill>
                  <a:schemeClr val="tx1"/>
                </a:solidFill>
              </a:rPr>
              <a:t> or </a:t>
            </a:r>
            <a:r>
              <a:rPr lang="en-US" b="1" dirty="0">
                <a:solidFill>
                  <a:schemeClr val="tx1"/>
                </a:solidFill>
              </a:rPr>
              <a:t>TensorFlow/</a:t>
            </a:r>
            <a:r>
              <a:rPr lang="en-US" b="1" dirty="0" err="1">
                <a:solidFill>
                  <a:schemeClr val="tx1"/>
                </a:solidFill>
              </a:rPr>
              <a:t>Keras</a:t>
            </a:r>
            <a:r>
              <a:rPr lang="en-US" dirty="0">
                <a:solidFill>
                  <a:schemeClr val="tx1"/>
                </a:solidFill>
              </a:rPr>
              <a:t> (for training the Transformer model)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Hugging Face Transformers</a:t>
            </a:r>
            <a:r>
              <a:rPr lang="en-US" dirty="0">
                <a:solidFill>
                  <a:schemeClr val="tx1"/>
                </a:solidFill>
              </a:rPr>
              <a:t> (for fine-tuning pre-trained models like CodeT5, GPT)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Scikit-learn</a:t>
            </a:r>
            <a:r>
              <a:rPr lang="en-US" dirty="0">
                <a:solidFill>
                  <a:schemeClr val="tx1"/>
                </a:solidFill>
              </a:rPr>
              <a:t> (for evaluation metrics like BLEU, ROUGE)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3998B-456B-3827-13E1-0AFC13DA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1904AS651 - Mini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C00B424-39BC-166B-DE23-2E4C2BC99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08" y="1859127"/>
            <a:ext cx="8872792" cy="2249577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https://www.researchgate.net/publication/377706469_AI-Powered_Programming_Using_ChatGPT_for_Code_Generation_Support</a:t>
            </a:r>
            <a:br>
              <a:rPr lang="en-US" sz="2000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US" sz="20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000" u="sng" dirty="0">
                <a:solidFill>
                  <a:schemeClr val="accent2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https://repo.ijiert.org/index.php/ijiert/article/download/1334/3299/6918</a:t>
            </a:r>
            <a:br>
              <a:rPr lang="en-US" sz="2000" u="sng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US" sz="20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2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HTTPS://Downloads/base%20paper-AI%20powered%20code%20generater.pdf</a:t>
            </a:r>
            <a:br>
              <a:rPr lang="en-US" sz="2000" dirty="0"/>
            </a:br>
            <a:br>
              <a:rPr lang="en-US" sz="1400" dirty="0"/>
            </a:br>
            <a:endParaRPr lang="en-US" sz="1400" dirty="0"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7" name="Google Shape;17;p1"/>
          <p:cNvSpPr txBox="1"/>
          <p:nvPr/>
        </p:nvSpPr>
        <p:spPr>
          <a:xfrm>
            <a:off x="0" y="282329"/>
            <a:ext cx="9144000" cy="11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Details of base paper and literature survey paper link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51A4F-883F-F0A0-3D55-9639B4EFC248}"/>
              </a:ext>
            </a:extLst>
          </p:cNvPr>
          <p:cNvSpPr txBox="1"/>
          <p:nvPr/>
        </p:nvSpPr>
        <p:spPr>
          <a:xfrm>
            <a:off x="3001241" y="6347936"/>
            <a:ext cx="2649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1904AS651 - Mini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</TotalTime>
  <Words>880</Words>
  <Application>Microsoft Office PowerPoint</Application>
  <PresentationFormat>On-screen Show (4:3)</PresentationFormat>
  <Paragraphs>103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Times New Roman</vt:lpstr>
      <vt:lpstr>Trebuchet MS</vt:lpstr>
      <vt:lpstr>ui-sans-serif</vt:lpstr>
      <vt:lpstr>Wingdings 3</vt:lpstr>
      <vt:lpstr>Facet</vt:lpstr>
      <vt:lpstr>Project Review  AI POWERED CODE GENERATER </vt:lpstr>
      <vt:lpstr>Motivation/Introduction </vt:lpstr>
      <vt:lpstr>Problem Identified</vt:lpstr>
      <vt:lpstr>Key Business Objectives</vt:lpstr>
      <vt:lpstr>Base Paper Details</vt:lpstr>
      <vt:lpstr>LITRATURE REVIEW</vt:lpstr>
      <vt:lpstr>PowerPoint Presentation</vt:lpstr>
      <vt:lpstr>MODEL ARCHITECTURE</vt:lpstr>
      <vt:lpstr>Methodology</vt:lpstr>
      <vt:lpstr>Hardware &amp;Software Requirements</vt:lpstr>
      <vt:lpstr>https://www.researchgate.net/publication/377706469_AI-Powered_Programming_Using_ChatGPT_for_Code_Generation_Support  https://repo.ijiert.org/index.php/ijiert/article/download/1334/3299/6918  HTTPS://Downloads/base%20paper-AI%20powered%20code%20generater.pdf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creator>Agathees Waran</dc:creator>
  <cp:lastModifiedBy>Agathees Waran</cp:lastModifiedBy>
  <cp:revision>13</cp:revision>
  <dcterms:modified xsi:type="dcterms:W3CDTF">2025-04-22T08:17:55Z</dcterms:modified>
</cp:coreProperties>
</file>